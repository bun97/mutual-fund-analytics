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69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7763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Mutual Fund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1894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r>
              <a:rPr lang="en-US" sz="2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Capstone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41148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71,960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Records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41148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32,778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4114800"/>
            <a:ext cx="25603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6112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Khushee Yadav  |  Data Analyst Intern  |  Bluestock Fintech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questions are we answering?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1338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funds deliver the best risk-adjusted returns?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1338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investor segments are most active and at-risk of dropping SIPs?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74720"/>
            <a:ext cx="11338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funds compare against market benchmarks?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343400"/>
            <a:ext cx="11338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34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fund should an investor choose based on their risk appetite?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5212080"/>
            <a:ext cx="11338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AUM trends across fund houses and categories?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65760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History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71,960 rows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NAV prices for 40 funds from 2022–2026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188720"/>
            <a:ext cx="36576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Transactions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32,778 rows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2560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SIP, Lumpsum &amp; Redemption records with demographics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88720"/>
            <a:ext cx="36576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Performance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rows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25603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Returns, risk metrics, AUM, expense ratios per fund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Steps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525780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and standardised date formats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55321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Forward-filled NAV for weekends/holidays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58064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transaction types (SIP/Lumpsum/Redemption)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0807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KYC status and amount &gt; 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duplicates and null values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 AUM share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Dominates all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aged 26–35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investor segment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investors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33.5% Female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18872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5256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dominate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more transactions than B30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Insights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Kolkata and Hyderabad lead in SIP amounts among top 15 cities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590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Mumbai and Delhi surprisingly rank lower than tier-2 cities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974336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B30 cities show growing participation — untapped market opportunity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Top Funds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Name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143000"/>
            <a:ext cx="1645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Return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143000"/>
            <a:ext cx="1645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3Y Return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143000"/>
            <a:ext cx="146304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170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1143000"/>
            <a:ext cx="1645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Ratio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57276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ABSL Small Cap Fund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572768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572768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22.38%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1572768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600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1572768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1.53%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048256"/>
            <a:ext cx="411480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075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Small Cap Fund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2048256"/>
            <a:ext cx="164592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075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21.97%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048256"/>
            <a:ext cx="164592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075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2048256"/>
            <a:ext cx="146304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0" y="2048256"/>
            <a:ext cx="164592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2075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523744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551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Liquid Fund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0" y="252374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2551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8.89%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252374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551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80960" y="2523744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25511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144000" y="252374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2551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2999232"/>
            <a:ext cx="411480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0266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Top 100 Fund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89120" y="2999232"/>
            <a:ext cx="164592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3026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10.94%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35040" y="2999232"/>
            <a:ext cx="164592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3026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12.82%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80960" y="2999232"/>
            <a:ext cx="146304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0" y="2999232"/>
            <a:ext cx="1645920" cy="438912"/>
          </a:xfrm>
          <a:prstGeom prst="rect">
            <a:avLst/>
          </a:prstGeom>
          <a:solidFill>
            <a:srgbClr val="EBF4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0" y="3026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347472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502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89120" y="3474720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502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15.12%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035040" y="3474720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3502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13.45%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680960" y="3474720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3502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144000" y="3474720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0" y="3502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1.46%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743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274320" y="45262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funds have the highest Sharpe ratio (7.68) due to consistent low-volatility returns. Small Cap funds lead in absolute returns but carry higher risk.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27432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Comparison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74320" y="5532120"/>
            <a:ext cx="36576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5577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1Y: 24.93%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4206240" y="5532120"/>
            <a:ext cx="365760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0" name="Text 68"/>
          <p:cNvSpPr/>
          <p:nvPr/>
        </p:nvSpPr>
        <p:spPr>
          <a:xfrm>
            <a:off x="4206240" y="5577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3Y: 22.38%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8138160" y="5532120"/>
            <a:ext cx="36576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8138160" y="5577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5Y: 18.5%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at Risk (VaR 95%)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Riskiest Funds: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119599  |  VaR: -7.74%  |  CVaR: -14.15%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119598  |  VaR: -7.73%  |  CVaR: -17.07%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119095  |  VaR: -7.20%  |  CVaR: -13.87%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486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Continuity Analysis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Investors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(SIP gap &gt; 35 days)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case: INV000105 with 115-day 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115214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90-Day Sharpe — Key Observation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Most funds showed strong Sharpe ratios during 2023 bull run — peaking above 2.0 for top performers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Sharp decline in Sharpe ratios observed from mid-2025 onwards across all fund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6694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Fund 100033 maintained most consistent positive Sharpe throughout the entire period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705856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2026 shows deteriorating risk-adjusted returns — market entering correction phase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Recommender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Investor's Risk Appetite  →  Output: Top 3 Recommended Funds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3657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81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84248"/>
            <a:ext cx="16459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984248"/>
            <a:ext cx="54864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984248"/>
            <a:ext cx="73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Ret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984248"/>
            <a:ext cx="73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50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Liquid Fund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20240" y="232257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23500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23225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350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8.89%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3225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350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706624"/>
            <a:ext cx="16459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34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Liquid Fund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2706624"/>
            <a:ext cx="5486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7340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270662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4.26%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70662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0906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118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ABSL Liquid Fund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309067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31181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309067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6.18%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309067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06240" y="1554480"/>
            <a:ext cx="36576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1581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RISK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06240" y="1984248"/>
            <a:ext cx="16459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1984248"/>
            <a:ext cx="54864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6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1984248"/>
            <a:ext cx="73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Ret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32320" y="1984248"/>
            <a:ext cx="73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713232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06240" y="232257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50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Top 100 Fund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52160" y="232257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3500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23225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2350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10.94%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32320" y="23225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2350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206240" y="2706624"/>
            <a:ext cx="16459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0" y="2734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52160" y="2706624"/>
            <a:ext cx="5486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0" y="27340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00800" y="270662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15.12%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32320" y="270662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206240" y="30906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0" y="3118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Bluechip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852160" y="309067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52160" y="31181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00800" y="309067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14.12%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132320" y="309067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138160" y="1554480"/>
            <a:ext cx="36576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4" name="Text 72"/>
          <p:cNvSpPr/>
          <p:nvPr/>
        </p:nvSpPr>
        <p:spPr>
          <a:xfrm>
            <a:off x="8138160" y="1581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138160" y="1984248"/>
            <a:ext cx="16459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6" name="Text 74"/>
          <p:cNvSpPr/>
          <p:nvPr/>
        </p:nvSpPr>
        <p:spPr>
          <a:xfrm>
            <a:off x="813816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784080" y="1984248"/>
            <a:ext cx="54864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8" name="Text 76"/>
          <p:cNvSpPr/>
          <p:nvPr/>
        </p:nvSpPr>
        <p:spPr>
          <a:xfrm>
            <a:off x="978408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332720" y="1984248"/>
            <a:ext cx="73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0" name="Text 78"/>
          <p:cNvSpPr/>
          <p:nvPr/>
        </p:nvSpPr>
        <p:spPr>
          <a:xfrm>
            <a:off x="1033272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Ret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1064240" y="1984248"/>
            <a:ext cx="73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2" name="Text 80"/>
          <p:cNvSpPr/>
          <p:nvPr/>
        </p:nvSpPr>
        <p:spPr>
          <a:xfrm>
            <a:off x="1106424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138160" y="232257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38160" y="2350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Top 100 Fund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784080" y="232257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784080" y="23500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332720" y="23225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32720" y="2350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10.94%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1064240" y="2322576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064240" y="2350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1.55%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138160" y="2706624"/>
            <a:ext cx="16459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38160" y="2734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784080" y="2706624"/>
            <a:ext cx="5486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784080" y="27340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0332720" y="270662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332720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15.12%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1064240" y="270662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064240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138160" y="30906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8160" y="3118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Bluechip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784080" y="309067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84080" y="31181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0332720" y="309067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33272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14.12%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1064240" y="309067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064240" y="3118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0.80%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274320" y="5349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A1628"/>
                </a:solidFill>
                <a:latin typeface="Arial" pitchFamily="34" charset="0"/>
                <a:cs typeface="Arial" pitchFamily="34" charset="-120"/>
              </a:rPr>
              <a:t>Process: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274320" y="57150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inputs risk appetite → System filters funds by risk_grade → Ranks by Sharpe Ratio → Returns top 3 recommendations with key metrics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</a:t>
            </a: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17043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Cap funds delivered best absolute returns (24.93% 1Y) but Liquid funds win on risk-adjusted basis with Sharpe of 7.68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76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</a:t>
            </a: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17627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SIP investors identified as at-risk with gaps &gt; 35 days — immediate retention action needed to prevent dropout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82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</a:t>
            </a: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18211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26-35 age group dominates at 41% — digital-first marketing strategy should target young working professionals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 </a:t>
            </a: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418795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 and Hyderabad outperform metros in SIP amounts — B30 cities represent significant growth opportunity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193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Recommendation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5193792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Liquid Fund for conservative investors, HDFC Top 100 for moderate, ABSL Small Cap for aggressive investors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with: Python · Pandas · SQL · SQLite · Plotly · Seaborn · Power BI · Git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763</Words>
  <Application>Microsoft Office PowerPoint</Application>
  <PresentationFormat>Widescreen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acs</cp:lastModifiedBy>
  <cp:revision>3</cp:revision>
  <dcterms:created xsi:type="dcterms:W3CDTF">2026-07-13T04:02:05Z</dcterms:created>
  <dcterms:modified xsi:type="dcterms:W3CDTF">2026-07-14T15:57:16Z</dcterms:modified>
</cp:coreProperties>
</file>